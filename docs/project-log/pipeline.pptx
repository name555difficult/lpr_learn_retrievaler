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0" userDrawn="1">
          <p15:clr>
            <a:srgbClr val="A4A3A4"/>
          </p15:clr>
        </p15:guide>
        <p15:guide id="2" pos="38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200"/>
        <p:guide pos="381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63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圆角矩形 119"/>
          <p:cNvSpPr/>
          <p:nvPr/>
        </p:nvSpPr>
        <p:spPr>
          <a:xfrm>
            <a:off x="654050" y="4351655"/>
            <a:ext cx="2151380" cy="827405"/>
          </a:xfrm>
          <a:prstGeom prst="roundRect">
            <a:avLst>
              <a:gd name="adj" fmla="val 7200"/>
            </a:avLst>
          </a:prstGeom>
          <a:solidFill>
            <a:srgbClr val="E1E1E1">
              <a:alpha val="5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圆角矩形 16"/>
          <p:cNvSpPr/>
          <p:nvPr/>
        </p:nvSpPr>
        <p:spPr>
          <a:xfrm>
            <a:off x="638175" y="574675"/>
            <a:ext cx="2211705" cy="3016250"/>
          </a:xfrm>
          <a:prstGeom prst="roundRect">
            <a:avLst>
              <a:gd name="adj" fmla="val 7200"/>
            </a:avLst>
          </a:prstGeom>
          <a:solidFill>
            <a:srgbClr val="E1E1E1">
              <a:alpha val="5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637540" y="571500"/>
            <a:ext cx="22123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Times New Roman" panose="02020603050405020304" charset="0"/>
                <a:ea typeface="PingFang SC Semibold" panose="020B0400000000000000" charset="-122"/>
                <a:cs typeface="Times New Roman" panose="02020603050405020304" charset="0"/>
              </a:rPr>
              <a:t>Random Large Batch Construction</a:t>
            </a:r>
            <a:endParaRPr lang="en-US" altLang="zh-CN" b="1">
              <a:latin typeface="Times New Roman" panose="02020603050405020304" charset="0"/>
              <a:ea typeface="PingFang SC Semibold" panose="020B0400000000000000" charset="-122"/>
              <a:cs typeface="Times New Roman" panose="02020603050405020304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447800" y="2118995"/>
            <a:ext cx="4800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Times New Roman" panose="02020603050405020304" charset="0"/>
                <a:ea typeface="PingFang SC Semibold" panose="020B0400000000000000" charset="-122"/>
                <a:cs typeface="Times New Roman" panose="02020603050405020304" charset="0"/>
              </a:rPr>
              <a:t>. . .</a:t>
            </a:r>
            <a:endParaRPr lang="en-US" altLang="zh-CN" b="1">
              <a:latin typeface="Times New Roman" panose="02020603050405020304" charset="0"/>
              <a:ea typeface="PingFang SC Semibold" panose="020B0400000000000000" charset="-122"/>
              <a:cs typeface="Times New Roman" panose="02020603050405020304" charset="0"/>
            </a:endParaRPr>
          </a:p>
        </p:txBody>
      </p:sp>
      <p:sp>
        <p:nvSpPr>
          <p:cNvPr id="29" name="右大括号 28"/>
          <p:cNvSpPr/>
          <p:nvPr/>
        </p:nvSpPr>
        <p:spPr>
          <a:xfrm>
            <a:off x="2703830" y="1157605"/>
            <a:ext cx="270510" cy="2433320"/>
          </a:xfrm>
          <a:prstGeom prst="rightBrace">
            <a:avLst/>
          </a:prstGeom>
          <a:ln w="19050" cap="rnd">
            <a:solidFill>
              <a:schemeClr val="tx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15" name="组合 14"/>
          <p:cNvGrpSpPr/>
          <p:nvPr/>
        </p:nvGrpSpPr>
        <p:grpSpPr>
          <a:xfrm>
            <a:off x="1306830" y="1181735"/>
            <a:ext cx="720000" cy="720000"/>
            <a:chOff x="2601" y="4636"/>
            <a:chExt cx="1350" cy="1350"/>
          </a:xfrm>
        </p:grpSpPr>
        <p:sp>
          <p:nvSpPr>
            <p:cNvPr id="3" name="矩形 2"/>
            <p:cNvSpPr/>
            <p:nvPr/>
          </p:nvSpPr>
          <p:spPr>
            <a:xfrm>
              <a:off x="2601" y="4636"/>
              <a:ext cx="1351" cy="135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1"/>
            <a:srcRect l="5176" t="3062" r="73895" b="62961"/>
            <a:stretch>
              <a:fillRect/>
            </a:stretch>
          </p:blipFill>
          <p:spPr>
            <a:xfrm>
              <a:off x="2645" y="4702"/>
              <a:ext cx="1258" cy="1226"/>
            </a:xfrm>
            <a:prstGeom prst="rect">
              <a:avLst/>
            </a:prstGeom>
          </p:spPr>
        </p:pic>
      </p:grpSp>
      <p:grpSp>
        <p:nvGrpSpPr>
          <p:cNvPr id="16" name="组合 15"/>
          <p:cNvGrpSpPr/>
          <p:nvPr/>
        </p:nvGrpSpPr>
        <p:grpSpPr>
          <a:xfrm>
            <a:off x="741680" y="1964055"/>
            <a:ext cx="720000" cy="720000"/>
            <a:chOff x="6787" y="5036"/>
            <a:chExt cx="1350" cy="1350"/>
          </a:xfrm>
        </p:grpSpPr>
        <p:sp>
          <p:nvSpPr>
            <p:cNvPr id="4" name="矩形 3"/>
            <p:cNvSpPr/>
            <p:nvPr/>
          </p:nvSpPr>
          <p:spPr>
            <a:xfrm>
              <a:off x="6787" y="5036"/>
              <a:ext cx="1351" cy="135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2"/>
            <a:srcRect l="2900" t="671" r="74601" b="61760"/>
            <a:stretch>
              <a:fillRect/>
            </a:stretch>
          </p:blipFill>
          <p:spPr>
            <a:xfrm>
              <a:off x="6811" y="5087"/>
              <a:ext cx="1291" cy="1264"/>
            </a:xfrm>
            <a:prstGeom prst="rect">
              <a:avLst/>
            </a:prstGeom>
          </p:spPr>
        </p:pic>
      </p:grpSp>
      <p:grpSp>
        <p:nvGrpSpPr>
          <p:cNvPr id="5" name="组合 4"/>
          <p:cNvGrpSpPr/>
          <p:nvPr/>
        </p:nvGrpSpPr>
        <p:grpSpPr>
          <a:xfrm>
            <a:off x="1932940" y="1979930"/>
            <a:ext cx="720000" cy="720000"/>
            <a:chOff x="5547" y="6756"/>
            <a:chExt cx="1350" cy="1350"/>
          </a:xfrm>
        </p:grpSpPr>
        <p:sp>
          <p:nvSpPr>
            <p:cNvPr id="9" name="矩形 8"/>
            <p:cNvSpPr/>
            <p:nvPr/>
          </p:nvSpPr>
          <p:spPr>
            <a:xfrm>
              <a:off x="5547" y="6756"/>
              <a:ext cx="1351" cy="135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/>
            <a:srcRect l="3093" t="2765" r="75526" b="62866"/>
            <a:stretch>
              <a:fillRect/>
            </a:stretch>
          </p:blipFill>
          <p:spPr>
            <a:xfrm>
              <a:off x="5571" y="6806"/>
              <a:ext cx="1298" cy="1265"/>
            </a:xfrm>
            <a:prstGeom prst="rect">
              <a:avLst/>
            </a:prstGeom>
          </p:spPr>
        </p:pic>
      </p:grpSp>
      <p:grpSp>
        <p:nvGrpSpPr>
          <p:cNvPr id="7" name="组合 6"/>
          <p:cNvGrpSpPr/>
          <p:nvPr/>
        </p:nvGrpSpPr>
        <p:grpSpPr>
          <a:xfrm>
            <a:off x="1296670" y="2750185"/>
            <a:ext cx="720000" cy="720000"/>
            <a:chOff x="3798" y="8506"/>
            <a:chExt cx="1350" cy="1350"/>
          </a:xfrm>
        </p:grpSpPr>
        <p:sp>
          <p:nvSpPr>
            <p:cNvPr id="10" name="矩形 9"/>
            <p:cNvSpPr/>
            <p:nvPr/>
          </p:nvSpPr>
          <p:spPr>
            <a:xfrm>
              <a:off x="3798" y="8506"/>
              <a:ext cx="1351" cy="135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4"/>
            <a:srcRect l="4419" t="1500" r="72352" b="63901"/>
            <a:stretch>
              <a:fillRect/>
            </a:stretch>
          </p:blipFill>
          <p:spPr>
            <a:xfrm>
              <a:off x="3822" y="8573"/>
              <a:ext cx="1297" cy="1226"/>
            </a:xfrm>
            <a:prstGeom prst="rect">
              <a:avLst/>
            </a:prstGeom>
          </p:spPr>
        </p:pic>
      </p:grpSp>
      <p:sp>
        <p:nvSpPr>
          <p:cNvPr id="61" name="梯形 60"/>
          <p:cNvSpPr/>
          <p:nvPr/>
        </p:nvSpPr>
        <p:spPr>
          <a:xfrm rot="5400000">
            <a:off x="3192145" y="1443990"/>
            <a:ext cx="1411605" cy="1847215"/>
          </a:xfrm>
          <a:prstGeom prst="trapezoid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2974340" y="2183765"/>
            <a:ext cx="18478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Times New Roman" panose="02020603050405020304" charset="0"/>
                <a:ea typeface="PingFang SC Semibold" panose="020B0400000000000000" charset="-122"/>
                <a:cs typeface="Times New Roman" panose="02020603050405020304" charset="0"/>
              </a:rPr>
              <a:t>Encoder</a:t>
            </a:r>
            <a:endParaRPr lang="en-US" altLang="zh-CN" b="1">
              <a:latin typeface="Times New Roman" panose="02020603050405020304" charset="0"/>
              <a:ea typeface="PingFang SC Semibold" panose="020B0400000000000000" charset="-122"/>
              <a:cs typeface="Times New Roman" panose="02020603050405020304" charset="0"/>
            </a:endParaRPr>
          </a:p>
        </p:txBody>
      </p:sp>
      <p:sp>
        <p:nvSpPr>
          <p:cNvPr id="90" name="矩形 89"/>
          <p:cNvSpPr/>
          <p:nvPr/>
        </p:nvSpPr>
        <p:spPr>
          <a:xfrm>
            <a:off x="4821555" y="2023110"/>
            <a:ext cx="256540" cy="69342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g</a:t>
            </a:r>
            <a:endParaRPr lang="zh-CN" altLang="en-US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cxnSp>
        <p:nvCxnSpPr>
          <p:cNvPr id="130" name="直接箭头连接符 129"/>
          <p:cNvCxnSpPr>
            <a:stCxn id="90" idx="3"/>
            <a:endCxn id="8" idx="1"/>
          </p:cNvCxnSpPr>
          <p:nvPr/>
        </p:nvCxnSpPr>
        <p:spPr>
          <a:xfrm flipV="1">
            <a:off x="5078095" y="2368550"/>
            <a:ext cx="191770" cy="1270"/>
          </a:xfrm>
          <a:prstGeom prst="straightConnector1">
            <a:avLst/>
          </a:prstGeom>
          <a:ln w="19050" cap="rnd">
            <a:solidFill>
              <a:schemeClr val="tx1"/>
            </a:solidFill>
            <a:round/>
            <a:headEnd type="none"/>
            <a:tailEnd type="triangl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圆角矩形 7"/>
          <p:cNvSpPr/>
          <p:nvPr/>
        </p:nvSpPr>
        <p:spPr>
          <a:xfrm>
            <a:off x="5269865" y="1410970"/>
            <a:ext cx="1929130" cy="1914525"/>
          </a:xfrm>
          <a:prstGeom prst="roundRect">
            <a:avLst>
              <a:gd name="adj" fmla="val 7200"/>
            </a:avLst>
          </a:prstGeom>
          <a:solidFill>
            <a:srgbClr val="E1E1E1">
              <a:alpha val="5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6127115" y="1830705"/>
            <a:ext cx="288290" cy="28829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5697220" y="2292350"/>
            <a:ext cx="288290" cy="28829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6542405" y="2292350"/>
            <a:ext cx="288290" cy="28829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6127115" y="2750185"/>
            <a:ext cx="288290" cy="28829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024245" y="2217420"/>
            <a:ext cx="4800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Times New Roman" panose="02020603050405020304" charset="0"/>
                <a:ea typeface="PingFang SC Semibold" panose="020B0400000000000000" charset="-122"/>
                <a:cs typeface="Times New Roman" panose="02020603050405020304" charset="0"/>
              </a:rPr>
              <a:t>. . .</a:t>
            </a:r>
            <a:endParaRPr lang="en-US" altLang="zh-CN" b="1">
              <a:latin typeface="Times New Roman" panose="02020603050405020304" charset="0"/>
              <a:ea typeface="PingFang SC Semibold" panose="020B0400000000000000" charset="-122"/>
              <a:cs typeface="Times New Roman" panose="02020603050405020304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5158105" y="1369060"/>
            <a:ext cx="22123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Times New Roman" panose="02020603050405020304" charset="0"/>
                <a:ea typeface="PingFang SC Semibold" panose="020B0400000000000000" charset="-122"/>
                <a:cs typeface="Times New Roman" panose="02020603050405020304" charset="0"/>
              </a:rPr>
              <a:t>Descriptor </a:t>
            </a:r>
            <a:r>
              <a:rPr lang="en-US" altLang="zh-CN" b="1">
                <a:latin typeface="Times New Roman" panose="02020603050405020304" charset="0"/>
                <a:ea typeface="PingFang SC Semibold" panose="020B0400000000000000" charset="-122"/>
                <a:cs typeface="Times New Roman" panose="02020603050405020304" charset="0"/>
              </a:rPr>
              <a:t>Space</a:t>
            </a:r>
            <a:endParaRPr lang="en-US" altLang="zh-CN" b="1">
              <a:latin typeface="Times New Roman" panose="02020603050405020304" charset="0"/>
              <a:ea typeface="PingFang SC Semibold" panose="020B0400000000000000" charset="-122"/>
              <a:cs typeface="Times New Roman" panose="02020603050405020304" charset="0"/>
            </a:endParaRPr>
          </a:p>
        </p:txBody>
      </p:sp>
      <p:sp>
        <p:nvSpPr>
          <p:cNvPr id="24" name="圆角矩形 23"/>
          <p:cNvSpPr/>
          <p:nvPr/>
        </p:nvSpPr>
        <p:spPr>
          <a:xfrm rot="5400000">
            <a:off x="7668260" y="1443990"/>
            <a:ext cx="1411605" cy="184721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7450455" y="2183765"/>
            <a:ext cx="18478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Times New Roman" panose="02020603050405020304" charset="0"/>
                <a:ea typeface="PingFang SC Semibold" panose="020B0400000000000000" charset="-122"/>
                <a:cs typeface="Times New Roman" panose="02020603050405020304" charset="0"/>
              </a:rPr>
              <a:t>Retriev</a:t>
            </a:r>
            <a:r>
              <a:rPr lang="en-US" altLang="zh-CN" b="1">
                <a:latin typeface="Times New Roman" panose="02020603050405020304" charset="0"/>
                <a:ea typeface="PingFang SC Semibold" panose="020B0400000000000000" charset="-122"/>
                <a:cs typeface="Times New Roman" panose="02020603050405020304" charset="0"/>
              </a:rPr>
              <a:t>aler</a:t>
            </a:r>
            <a:endParaRPr lang="en-US" altLang="zh-CN" b="1">
              <a:latin typeface="Times New Roman" panose="02020603050405020304" charset="0"/>
              <a:ea typeface="PingFang SC Semibold" panose="020B0400000000000000" charset="-122"/>
              <a:cs typeface="Times New Roman" panose="02020603050405020304" charset="0"/>
            </a:endParaRPr>
          </a:p>
        </p:txBody>
      </p:sp>
      <p:cxnSp>
        <p:nvCxnSpPr>
          <p:cNvPr id="28" name="直接箭头连接符 27"/>
          <p:cNvCxnSpPr>
            <a:stCxn id="8" idx="3"/>
            <a:endCxn id="27" idx="1"/>
          </p:cNvCxnSpPr>
          <p:nvPr/>
        </p:nvCxnSpPr>
        <p:spPr>
          <a:xfrm flipV="1">
            <a:off x="7198995" y="2367915"/>
            <a:ext cx="251460" cy="635"/>
          </a:xfrm>
          <a:prstGeom prst="straightConnector1">
            <a:avLst/>
          </a:prstGeom>
          <a:ln w="19050" cap="rnd">
            <a:solidFill>
              <a:schemeClr val="tx1"/>
            </a:solidFill>
            <a:round/>
            <a:headEnd type="none"/>
            <a:tailEnd type="triangl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0" name="圆角矩形 29"/>
          <p:cNvSpPr/>
          <p:nvPr/>
        </p:nvSpPr>
        <p:spPr>
          <a:xfrm>
            <a:off x="9494520" y="1410970"/>
            <a:ext cx="1929130" cy="1914525"/>
          </a:xfrm>
          <a:prstGeom prst="roundRect">
            <a:avLst>
              <a:gd name="adj" fmla="val 7200"/>
            </a:avLst>
          </a:prstGeom>
          <a:solidFill>
            <a:srgbClr val="E1E1E1">
              <a:alpha val="5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9493885" y="1394460"/>
            <a:ext cx="19900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Times New Roman" panose="02020603050405020304" charset="0"/>
                <a:ea typeface="PingFang SC Semibold" panose="020B0400000000000000" charset="-122"/>
                <a:cs typeface="Times New Roman" panose="02020603050405020304" charset="0"/>
              </a:rPr>
              <a:t>Similarity </a:t>
            </a:r>
            <a:r>
              <a:rPr lang="en-US" altLang="zh-CN" b="1">
                <a:latin typeface="Times New Roman" panose="02020603050405020304" charset="0"/>
                <a:ea typeface="PingFang SC Semibold" panose="020B0400000000000000" charset="-122"/>
                <a:cs typeface="Times New Roman" panose="02020603050405020304" charset="0"/>
              </a:rPr>
              <a:t>Matrix</a:t>
            </a:r>
            <a:endParaRPr lang="en-US" altLang="zh-CN" b="1">
              <a:latin typeface="Times New Roman" panose="02020603050405020304" charset="0"/>
              <a:ea typeface="PingFang SC Semibold" panose="020B0400000000000000" charset="-122"/>
              <a:cs typeface="Times New Roman" panose="02020603050405020304" charset="0"/>
            </a:endParaRPr>
          </a:p>
        </p:txBody>
      </p:sp>
      <p:graphicFrame>
        <p:nvGraphicFramePr>
          <p:cNvPr id="37" name="表格 36"/>
          <p:cNvGraphicFramePr/>
          <p:nvPr/>
        </p:nvGraphicFramePr>
        <p:xfrm>
          <a:off x="9742805" y="1762760"/>
          <a:ext cx="1440000" cy="144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/>
                <a:gridCol w="360000"/>
                <a:gridCol w="360000"/>
                <a:gridCol w="360000"/>
              </a:tblGrid>
              <a:tr h="360000">
                <a:tc>
                  <a:txBody>
                    <a:bodyPr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000" b="1">
                          <a:latin typeface="Times New Roman Regular" panose="02020603050405020304" charset="0"/>
                          <a:cs typeface="Times New Roman Regular" panose="02020603050405020304" charset="0"/>
                        </a:rPr>
                        <a:t>-</a:t>
                      </a:r>
                      <a:endParaRPr lang="en-US" altLang="zh-CN" sz="1000" b="1">
                        <a:latin typeface="Times New Roman Regular" panose="02020603050405020304" charset="0"/>
                        <a:cs typeface="Times New Roman Regular" panose="02020603050405020304" charset="0"/>
                      </a:endParaRPr>
                    </a:p>
                  </a:txBody>
                  <a:tcPr anchor="ctr" anchorCtr="0"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000" b="1">
                          <a:latin typeface="Times New Roman Regular" panose="02020603050405020304" charset="0"/>
                          <a:cs typeface="Times New Roman Regular" panose="02020603050405020304" charset="0"/>
                        </a:rPr>
                        <a:t>0.8</a:t>
                      </a:r>
                      <a:endParaRPr lang="en-US" altLang="zh-CN" sz="1000" b="1">
                        <a:latin typeface="Times New Roman Regular" panose="02020603050405020304" charset="0"/>
                        <a:cs typeface="Times New Roman Regular" panose="02020603050405020304" charset="0"/>
                      </a:endParaRPr>
                    </a:p>
                  </a:txBody>
                  <a:tcPr anchor="ctr" anchorCtr="0"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6">
                            <a:lumMod val="20000"/>
                            <a:lumOff val="80000"/>
                          </a:schemeClr>
                        </a:gs>
                        <a:gs pos="100000">
                          <a:schemeClr val="accent5">
                            <a:lumMod val="20000"/>
                            <a:lumOff val="80000"/>
                          </a:schemeClr>
                        </a:gs>
                      </a:gsLst>
                      <a:lin ang="2700000" scaled="0"/>
                      <a:tileRect/>
                    </a:gra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000" b="1">
                          <a:latin typeface="Times New Roman Regular" panose="02020603050405020304" charset="0"/>
                          <a:cs typeface="Times New Roman Regular" panose="02020603050405020304" charset="0"/>
                        </a:rPr>
                        <a:t>0.4</a:t>
                      </a:r>
                      <a:endParaRPr lang="en-US" altLang="zh-CN" sz="1000" b="1">
                        <a:latin typeface="Times New Roman Regular" panose="02020603050405020304" charset="0"/>
                        <a:cs typeface="Times New Roman Regular" panose="02020603050405020304" charset="0"/>
                      </a:endParaRPr>
                    </a:p>
                  </a:txBody>
                  <a:tcPr anchor="ctr" anchorCtr="0"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000" b="1">
                          <a:latin typeface="Times New Roman Regular" panose="02020603050405020304" charset="0"/>
                          <a:cs typeface="Times New Roman Regular" panose="02020603050405020304" charset="0"/>
                        </a:rPr>
                        <a:t>0.5</a:t>
                      </a:r>
                      <a:endParaRPr lang="en-US" altLang="zh-CN" sz="1000" b="1">
                        <a:latin typeface="Times New Roman Regular" panose="02020603050405020304" charset="0"/>
                        <a:cs typeface="Times New Roman Regular" panose="02020603050405020304" charset="0"/>
                      </a:endParaRPr>
                    </a:p>
                  </a:txBody>
                  <a:tcPr anchor="ctr" anchorCtr="0"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360000">
                <a:tc>
                  <a:txBody>
                    <a:bodyPr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000" b="1">
                          <a:latin typeface="Times New Roman Regular" panose="02020603050405020304" charset="0"/>
                          <a:cs typeface="Times New Roman Regular" panose="02020603050405020304" charset="0"/>
                          <a:sym typeface="+mn-ea"/>
                        </a:rPr>
                        <a:t>0.8</a:t>
                      </a:r>
                      <a:endParaRPr lang="zh-CN" altLang="en-US" sz="1000" b="1">
                        <a:latin typeface="Times New Roman Regular" panose="02020603050405020304" charset="0"/>
                        <a:cs typeface="Times New Roman Regular" panose="02020603050405020304" charset="0"/>
                      </a:endParaRPr>
                    </a:p>
                  </a:txBody>
                  <a:tcPr anchor="ctr" anchorCtr="0"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000" b="1">
                          <a:latin typeface="Times New Roman Regular" panose="02020603050405020304" charset="0"/>
                          <a:cs typeface="Times New Roman Regular" panose="02020603050405020304" charset="0"/>
                          <a:sym typeface="+mn-ea"/>
                        </a:rPr>
                        <a:t>-</a:t>
                      </a:r>
                      <a:endParaRPr lang="zh-CN" altLang="en-US" sz="1000" b="1">
                        <a:latin typeface="Times New Roman Regular" panose="02020603050405020304" charset="0"/>
                        <a:cs typeface="Times New Roman Regular" panose="02020603050405020304" charset="0"/>
                      </a:endParaRPr>
                    </a:p>
                  </a:txBody>
                  <a:tcPr anchor="ctr" anchorCtr="0"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000" b="1">
                          <a:latin typeface="Times New Roman Regular" panose="02020603050405020304" charset="0"/>
                          <a:cs typeface="Times New Roman Regular" panose="02020603050405020304" charset="0"/>
                        </a:rPr>
                        <a:t>0.7</a:t>
                      </a:r>
                      <a:endParaRPr lang="en-US" altLang="zh-CN" sz="1000" b="1">
                        <a:latin typeface="Times New Roman Regular" panose="02020603050405020304" charset="0"/>
                        <a:cs typeface="Times New Roman Regular" panose="02020603050405020304" charset="0"/>
                      </a:endParaRPr>
                    </a:p>
                  </a:txBody>
                  <a:tcPr anchor="ctr" anchorCtr="0"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000" b="1">
                          <a:latin typeface="Times New Roman Regular" panose="02020603050405020304" charset="0"/>
                          <a:cs typeface="Times New Roman Regular" panose="02020603050405020304" charset="0"/>
                        </a:rPr>
                        <a:t>0.9</a:t>
                      </a:r>
                      <a:endParaRPr lang="en-US" altLang="zh-CN" sz="1000" b="1">
                        <a:latin typeface="Times New Roman Regular" panose="02020603050405020304" charset="0"/>
                        <a:cs typeface="Times New Roman Regular" panose="02020603050405020304" charset="0"/>
                      </a:endParaRPr>
                    </a:p>
                  </a:txBody>
                  <a:tcPr anchor="ctr" anchorCtr="0"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60000">
                <a:tc>
                  <a:txBody>
                    <a:bodyPr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000" b="1">
                          <a:latin typeface="Times New Roman Regular" panose="02020603050405020304" charset="0"/>
                          <a:cs typeface="Times New Roman Regular" panose="02020603050405020304" charset="0"/>
                          <a:sym typeface="+mn-ea"/>
                        </a:rPr>
                        <a:t>0.4</a:t>
                      </a:r>
                      <a:endParaRPr lang="zh-CN" altLang="en-US" sz="1000" b="1">
                        <a:latin typeface="Times New Roman Regular" panose="02020603050405020304" charset="0"/>
                        <a:cs typeface="Times New Roman Regular" panose="02020603050405020304" charset="0"/>
                      </a:endParaRPr>
                    </a:p>
                  </a:txBody>
                  <a:tcPr anchor="ctr" anchorCtr="0"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000" b="1">
                          <a:latin typeface="Times New Roman Regular" panose="02020603050405020304" charset="0"/>
                          <a:cs typeface="Times New Roman Regular" panose="02020603050405020304" charset="0"/>
                        </a:rPr>
                        <a:t>0.7</a:t>
                      </a:r>
                      <a:endParaRPr lang="en-US" altLang="zh-CN" sz="1000" b="1">
                        <a:latin typeface="Times New Roman Regular" panose="02020603050405020304" charset="0"/>
                        <a:cs typeface="Times New Roman Regular" panose="02020603050405020304" charset="0"/>
                      </a:endParaRPr>
                    </a:p>
                  </a:txBody>
                  <a:tcPr anchor="ctr" anchorCtr="0"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6">
                            <a:lumMod val="20000"/>
                            <a:lumOff val="80000"/>
                          </a:schemeClr>
                        </a:gs>
                        <a:gs pos="100000">
                          <a:schemeClr val="accent5">
                            <a:lumMod val="20000"/>
                            <a:lumOff val="80000"/>
                          </a:schemeClr>
                        </a:gs>
                      </a:gsLst>
                      <a:lin ang="2700000" scaled="0"/>
                    </a:gra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000" b="1">
                          <a:latin typeface="Times New Roman Regular" panose="02020603050405020304" charset="0"/>
                          <a:cs typeface="Times New Roman Regular" panose="02020603050405020304" charset="0"/>
                          <a:sym typeface="+mn-ea"/>
                        </a:rPr>
                        <a:t>-</a:t>
                      </a:r>
                      <a:endParaRPr lang="zh-CN" altLang="en-US" sz="1000" b="1">
                        <a:latin typeface="Times New Roman Regular" panose="02020603050405020304" charset="0"/>
                        <a:cs typeface="Times New Roman Regular" panose="02020603050405020304" charset="0"/>
                      </a:endParaRPr>
                    </a:p>
                  </a:txBody>
                  <a:tcPr anchor="ctr" anchorCtr="0"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000" b="1">
                          <a:latin typeface="Times New Roman Regular" panose="02020603050405020304" charset="0"/>
                          <a:cs typeface="Times New Roman Regular" panose="02020603050405020304" charset="0"/>
                        </a:rPr>
                        <a:t>0.4</a:t>
                      </a:r>
                      <a:endParaRPr lang="en-US" altLang="zh-CN" sz="1000" b="1">
                        <a:latin typeface="Times New Roman Regular" panose="02020603050405020304" charset="0"/>
                        <a:cs typeface="Times New Roman Regular" panose="02020603050405020304" charset="0"/>
                      </a:endParaRPr>
                    </a:p>
                  </a:txBody>
                  <a:tcPr anchor="ctr" anchorCtr="0"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360000">
                <a:tc>
                  <a:txBody>
                    <a:bodyPr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000" b="1">
                          <a:latin typeface="Times New Roman Regular" panose="02020603050405020304" charset="0"/>
                          <a:cs typeface="Times New Roman Regular" panose="02020603050405020304" charset="0"/>
                        </a:rPr>
                        <a:t>0.5</a:t>
                      </a:r>
                      <a:endParaRPr lang="en-US" altLang="zh-CN" sz="1000" b="1">
                        <a:latin typeface="Times New Roman Regular" panose="02020603050405020304" charset="0"/>
                        <a:cs typeface="Times New Roman Regular" panose="02020603050405020304" charset="0"/>
                      </a:endParaRPr>
                    </a:p>
                  </a:txBody>
                  <a:tcPr anchor="ctr" anchorCtr="0"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000" b="1">
                          <a:latin typeface="Times New Roman Regular" panose="02020603050405020304" charset="0"/>
                          <a:cs typeface="Times New Roman Regular" panose="02020603050405020304" charset="0"/>
                        </a:rPr>
                        <a:t>0.9</a:t>
                      </a:r>
                      <a:endParaRPr lang="en-US" altLang="zh-CN" sz="1000" b="1">
                        <a:latin typeface="Times New Roman Regular" panose="02020603050405020304" charset="0"/>
                        <a:cs typeface="Times New Roman Regular" panose="02020603050405020304" charset="0"/>
                      </a:endParaRPr>
                    </a:p>
                  </a:txBody>
                  <a:tcPr anchor="ctr" anchorCtr="0"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000" b="1">
                          <a:latin typeface="Times New Roman Regular" panose="02020603050405020304" charset="0"/>
                          <a:cs typeface="Times New Roman Regular" panose="02020603050405020304" charset="0"/>
                        </a:rPr>
                        <a:t>0.4</a:t>
                      </a:r>
                      <a:endParaRPr lang="en-US" altLang="zh-CN" sz="1000" b="1">
                        <a:latin typeface="Times New Roman Regular" panose="02020603050405020304" charset="0"/>
                        <a:cs typeface="Times New Roman Regular" panose="02020603050405020304" charset="0"/>
                      </a:endParaRPr>
                    </a:p>
                  </a:txBody>
                  <a:tcPr anchor="ctr" anchorCtr="0"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000" b="1">
                          <a:latin typeface="Times New Roman Regular" panose="02020603050405020304" charset="0"/>
                          <a:cs typeface="Times New Roman Regular" panose="02020603050405020304" charset="0"/>
                          <a:sym typeface="+mn-ea"/>
                        </a:rPr>
                        <a:t>-</a:t>
                      </a:r>
                      <a:endParaRPr lang="zh-CN" altLang="en-US" sz="1000" b="1">
                        <a:latin typeface="Times New Roman Regular" panose="02020603050405020304" charset="0"/>
                        <a:cs typeface="Times New Roman Regular" panose="02020603050405020304" charset="0"/>
                      </a:endParaRPr>
                    </a:p>
                  </a:txBody>
                  <a:tcPr anchor="ctr" anchorCtr="0"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</a:tbl>
          </a:graphicData>
        </a:graphic>
      </p:graphicFrame>
      <p:cxnSp>
        <p:nvCxnSpPr>
          <p:cNvPr id="45" name="直接箭头连接符 44"/>
          <p:cNvCxnSpPr>
            <a:stCxn id="27" idx="3"/>
            <a:endCxn id="30" idx="1"/>
          </p:cNvCxnSpPr>
          <p:nvPr/>
        </p:nvCxnSpPr>
        <p:spPr>
          <a:xfrm>
            <a:off x="9298305" y="2367915"/>
            <a:ext cx="196215" cy="635"/>
          </a:xfrm>
          <a:prstGeom prst="straightConnector1">
            <a:avLst/>
          </a:prstGeom>
          <a:ln w="19050" cap="rnd">
            <a:solidFill>
              <a:schemeClr val="tx1"/>
            </a:solidFill>
            <a:round/>
            <a:headEnd type="none"/>
            <a:tailEnd type="triangl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3136900" y="22225"/>
            <a:ext cx="54089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400" b="1">
                <a:latin typeface="Times New Roman" panose="02020603050405020304" charset="0"/>
                <a:ea typeface="PingFang SC Semibold" panose="020B0400000000000000" charset="-122"/>
                <a:cs typeface="Times New Roman" panose="02020603050405020304" charset="0"/>
              </a:rPr>
              <a:t>Training from scratch </a:t>
            </a:r>
            <a:r>
              <a:rPr lang="zh-CN" altLang="en-US" sz="2400" b="1">
                <a:latin typeface="Times New Roman" panose="02020603050405020304" charset="0"/>
                <a:ea typeface="PingFang SC Semibold" panose="020B0400000000000000" charset="-122"/>
                <a:cs typeface="Times New Roman" panose="02020603050405020304" charset="0"/>
              </a:rPr>
              <a:t>——</a:t>
            </a:r>
            <a:r>
              <a:rPr lang="en-US" altLang="zh-CN" sz="2400" b="1">
                <a:latin typeface="Times New Roman" panose="02020603050405020304" charset="0"/>
                <a:ea typeface="PingFang SC Semibold" panose="020B0400000000000000" charset="-122"/>
                <a:cs typeface="Times New Roman" panose="02020603050405020304" charset="0"/>
              </a:rPr>
              <a:t> </a:t>
            </a:r>
            <a:r>
              <a:rPr lang="en-US" altLang="zh-CN" sz="2400" b="1">
                <a:latin typeface="Times New Roman" panose="02020603050405020304" charset="0"/>
                <a:ea typeface="PingFang SC Semibold" panose="020B0400000000000000" charset="-122"/>
                <a:cs typeface="Times New Roman" panose="02020603050405020304" charset="0"/>
              </a:rPr>
              <a:t>Supervision</a:t>
            </a:r>
            <a:endParaRPr lang="en-US" altLang="zh-CN" sz="2400" b="1">
              <a:latin typeface="Times New Roman" panose="02020603050405020304" charset="0"/>
              <a:ea typeface="PingFang SC Semibold" panose="020B0400000000000000" charset="-122"/>
              <a:cs typeface="Times New Roman" panose="02020603050405020304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9509760" y="3404235"/>
            <a:ext cx="203200" cy="18669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矩形 46"/>
          <p:cNvSpPr/>
          <p:nvPr/>
        </p:nvSpPr>
        <p:spPr>
          <a:xfrm>
            <a:off x="10772775" y="3404235"/>
            <a:ext cx="203200" cy="18669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文本框 47"/>
          <p:cNvSpPr txBox="1"/>
          <p:nvPr/>
        </p:nvSpPr>
        <p:spPr>
          <a:xfrm>
            <a:off x="9662160" y="3339465"/>
            <a:ext cx="9874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>
                <a:latin typeface="Times New Roman" panose="02020603050405020304" charset="0"/>
                <a:cs typeface="Times New Roman" panose="02020603050405020304" charset="0"/>
              </a:rPr>
              <a:t>Prediction</a:t>
            </a:r>
            <a:endParaRPr lang="en-US" altLang="zh-CN" sz="1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10975975" y="3339465"/>
            <a:ext cx="9874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>
                <a:latin typeface="Times New Roman" panose="02020603050405020304" charset="0"/>
                <a:cs typeface="Times New Roman" panose="02020603050405020304" charset="0"/>
              </a:rPr>
              <a:t>GT</a:t>
            </a:r>
            <a:endParaRPr lang="en-US" altLang="zh-CN" sz="1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51" name="肘形连接符 50"/>
          <p:cNvCxnSpPr>
            <a:stCxn id="36" idx="0"/>
            <a:endCxn id="61" idx="1"/>
          </p:cNvCxnSpPr>
          <p:nvPr/>
        </p:nvCxnSpPr>
        <p:spPr>
          <a:xfrm rot="16200000" flipH="1" flipV="1">
            <a:off x="6971030" y="-1678940"/>
            <a:ext cx="443865" cy="6590665"/>
          </a:xfrm>
          <a:prstGeom prst="bentConnector3">
            <a:avLst>
              <a:gd name="adj1" fmla="val -82260"/>
            </a:avLst>
          </a:prstGeom>
          <a:ln w="19050" cap="rnd">
            <a:solidFill>
              <a:schemeClr val="tx1"/>
            </a:solidFill>
            <a:prstDash val="dash"/>
            <a:round/>
            <a:headEnd type="none"/>
            <a:tailEnd type="triangl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2" name="肘形连接符 51"/>
          <p:cNvCxnSpPr>
            <a:stCxn id="36" idx="0"/>
            <a:endCxn id="24" idx="1"/>
          </p:cNvCxnSpPr>
          <p:nvPr/>
        </p:nvCxnSpPr>
        <p:spPr>
          <a:xfrm rot="16200000" flipH="1" flipV="1">
            <a:off x="9297670" y="470535"/>
            <a:ext cx="267335" cy="2114550"/>
          </a:xfrm>
          <a:prstGeom prst="bentConnector3">
            <a:avLst>
              <a:gd name="adj1" fmla="val -133135"/>
            </a:avLst>
          </a:prstGeom>
          <a:ln w="19050" cap="rnd">
            <a:solidFill>
              <a:schemeClr val="tx1"/>
            </a:solidFill>
            <a:prstDash val="dash"/>
            <a:round/>
            <a:headEnd type="none"/>
            <a:tailEnd type="triangl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3" name="文本框 52"/>
          <p:cNvSpPr txBox="1"/>
          <p:nvPr/>
        </p:nvSpPr>
        <p:spPr>
          <a:xfrm>
            <a:off x="4632960" y="671830"/>
            <a:ext cx="585533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Loss function: </a:t>
            </a:r>
            <a:r>
              <a:rPr lang="en-US" altLang="zh-CN" sz="16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Surrogate Recall@K</a:t>
            </a:r>
            <a:r>
              <a:rPr lang="zh-CN" altLang="en-US" sz="16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、</a:t>
            </a:r>
            <a:r>
              <a:rPr lang="en-US" altLang="zh-CN" sz="16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Metric Regularization</a:t>
            </a:r>
            <a:endParaRPr lang="en-US" altLang="zh-CN" sz="1600" b="1"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1310005" y="3989705"/>
            <a:ext cx="54089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2400" b="1">
                <a:latin typeface="Times New Roman" panose="02020603050405020304" charset="0"/>
                <a:ea typeface="PingFang SC Semibold" panose="020B0400000000000000" charset="-122"/>
                <a:cs typeface="Times New Roman" panose="02020603050405020304" charset="0"/>
              </a:rPr>
              <a:t>Evaluation Phase</a:t>
            </a:r>
            <a:endParaRPr lang="en-US" sz="2400" b="1">
              <a:latin typeface="Times New Roman" panose="02020603050405020304" charset="0"/>
              <a:ea typeface="PingFang SC Semibold" panose="020B0400000000000000" charset="-122"/>
              <a:cs typeface="Times New Roman" panose="02020603050405020304" charset="0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654050" y="5450205"/>
            <a:ext cx="2151380" cy="827405"/>
          </a:xfrm>
          <a:prstGeom prst="roundRect">
            <a:avLst>
              <a:gd name="adj" fmla="val 7200"/>
            </a:avLst>
          </a:prstGeom>
          <a:solidFill>
            <a:srgbClr val="E1E1E1">
              <a:alpha val="5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8" name="椭圆 77"/>
          <p:cNvSpPr/>
          <p:nvPr/>
        </p:nvSpPr>
        <p:spPr>
          <a:xfrm>
            <a:off x="756920" y="5879465"/>
            <a:ext cx="288290" cy="28829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80" name="椭圆 79"/>
          <p:cNvSpPr/>
          <p:nvPr/>
        </p:nvSpPr>
        <p:spPr>
          <a:xfrm>
            <a:off x="1169670" y="5879465"/>
            <a:ext cx="288290" cy="28829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81" name="椭圆 80"/>
          <p:cNvSpPr/>
          <p:nvPr/>
        </p:nvSpPr>
        <p:spPr>
          <a:xfrm>
            <a:off x="1536065" y="5879465"/>
            <a:ext cx="288290" cy="28829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1824355" y="5799455"/>
            <a:ext cx="4800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Times New Roman" panose="02020603050405020304" charset="0"/>
                <a:ea typeface="PingFang SC Semibold" panose="020B0400000000000000" charset="-122"/>
                <a:cs typeface="Times New Roman" panose="02020603050405020304" charset="0"/>
              </a:rPr>
              <a:t>. . .</a:t>
            </a:r>
            <a:endParaRPr lang="en-US" altLang="zh-CN" b="1">
              <a:latin typeface="Times New Roman" panose="02020603050405020304" charset="0"/>
              <a:ea typeface="PingFang SC Semibold" panose="020B0400000000000000" charset="-122"/>
              <a:cs typeface="Times New Roman" panose="02020603050405020304" charset="0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637540" y="5431155"/>
            <a:ext cx="22123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Times New Roman" panose="02020603050405020304" charset="0"/>
                <a:ea typeface="PingFang SC Semibold" panose="020B0400000000000000" charset="-122"/>
                <a:cs typeface="Times New Roman" panose="02020603050405020304" charset="0"/>
              </a:rPr>
              <a:t>Database Descriptor</a:t>
            </a:r>
            <a:endParaRPr lang="en-US" altLang="zh-CN" b="1">
              <a:latin typeface="Times New Roman" panose="02020603050405020304" charset="0"/>
              <a:ea typeface="PingFang SC Semibold" panose="020B0400000000000000" charset="-122"/>
              <a:cs typeface="Times New Roman" panose="02020603050405020304" charset="0"/>
            </a:endParaRPr>
          </a:p>
        </p:txBody>
      </p:sp>
      <p:sp>
        <p:nvSpPr>
          <p:cNvPr id="84" name="圆角矩形 83"/>
          <p:cNvSpPr/>
          <p:nvPr/>
        </p:nvSpPr>
        <p:spPr>
          <a:xfrm rot="5400000">
            <a:off x="3569335" y="4439285"/>
            <a:ext cx="1411605" cy="184721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3351530" y="5179060"/>
            <a:ext cx="18478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Times New Roman" panose="02020603050405020304" charset="0"/>
                <a:ea typeface="PingFang SC Semibold" panose="020B0400000000000000" charset="-122"/>
                <a:cs typeface="Times New Roman" panose="02020603050405020304" charset="0"/>
              </a:rPr>
              <a:t>Retriev</a:t>
            </a:r>
            <a:r>
              <a:rPr lang="en-US" altLang="zh-CN" b="1">
                <a:latin typeface="Times New Roman" panose="02020603050405020304" charset="0"/>
                <a:ea typeface="PingFang SC Semibold" panose="020B0400000000000000" charset="-122"/>
                <a:cs typeface="Times New Roman" panose="02020603050405020304" charset="0"/>
              </a:rPr>
              <a:t>aler</a:t>
            </a:r>
            <a:endParaRPr lang="en-US" altLang="zh-CN" b="1">
              <a:latin typeface="Times New Roman" panose="02020603050405020304" charset="0"/>
              <a:ea typeface="PingFang SC Semibold" panose="020B0400000000000000" charset="-122"/>
              <a:cs typeface="Times New Roman" panose="02020603050405020304" charset="0"/>
            </a:endParaRPr>
          </a:p>
        </p:txBody>
      </p:sp>
      <p:sp>
        <p:nvSpPr>
          <p:cNvPr id="87" name="圆角矩形 86"/>
          <p:cNvSpPr/>
          <p:nvPr/>
        </p:nvSpPr>
        <p:spPr>
          <a:xfrm>
            <a:off x="5395595" y="4855845"/>
            <a:ext cx="1929130" cy="1016000"/>
          </a:xfrm>
          <a:prstGeom prst="roundRect">
            <a:avLst>
              <a:gd name="adj" fmla="val 7200"/>
            </a:avLst>
          </a:prstGeom>
          <a:solidFill>
            <a:srgbClr val="E1E1E1">
              <a:alpha val="5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8" name="文本框 87"/>
          <p:cNvSpPr txBox="1"/>
          <p:nvPr/>
        </p:nvSpPr>
        <p:spPr>
          <a:xfrm>
            <a:off x="5395595" y="4826000"/>
            <a:ext cx="19900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Times New Roman" panose="02020603050405020304" charset="0"/>
                <a:ea typeface="PingFang SC Semibold" panose="020B0400000000000000" charset="-122"/>
                <a:cs typeface="Times New Roman" panose="02020603050405020304" charset="0"/>
              </a:rPr>
              <a:t>Similarity Vector</a:t>
            </a:r>
            <a:endParaRPr lang="en-US" altLang="zh-CN" b="1">
              <a:latin typeface="Times New Roman" panose="02020603050405020304" charset="0"/>
              <a:ea typeface="PingFang SC Semibold" panose="020B0400000000000000" charset="-122"/>
              <a:cs typeface="Times New Roman" panose="02020603050405020304" charset="0"/>
            </a:endParaRPr>
          </a:p>
        </p:txBody>
      </p:sp>
      <p:graphicFrame>
        <p:nvGraphicFramePr>
          <p:cNvPr id="89" name="表格 88"/>
          <p:cNvGraphicFramePr/>
          <p:nvPr/>
        </p:nvGraphicFramePr>
        <p:xfrm>
          <a:off x="5614035" y="5212715"/>
          <a:ext cx="1440000" cy="144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/>
                <a:gridCol w="360000"/>
                <a:gridCol w="360000"/>
                <a:gridCol w="360000"/>
              </a:tblGrid>
              <a:tr h="360000">
                <a:tc>
                  <a:txBody>
                    <a:bodyPr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000" b="1">
                          <a:latin typeface="Times New Roman Regular" panose="02020603050405020304" charset="0"/>
                          <a:cs typeface="Times New Roman Regular" panose="02020603050405020304" charset="0"/>
                        </a:rPr>
                        <a:t>0.7</a:t>
                      </a:r>
                      <a:endParaRPr lang="en-US" altLang="zh-CN" sz="1000" b="1">
                        <a:latin typeface="Times New Roman Regular" panose="02020603050405020304" charset="0"/>
                        <a:cs typeface="Times New Roman Regular" panose="02020603050405020304" charset="0"/>
                      </a:endParaRPr>
                    </a:p>
                  </a:txBody>
                  <a:tcPr anchor="ctr" anchorCtr="0"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000" b="1">
                          <a:latin typeface="Times New Roman Regular" panose="02020603050405020304" charset="0"/>
                          <a:cs typeface="Times New Roman Regular" panose="02020603050405020304" charset="0"/>
                        </a:rPr>
                        <a:t>0.8</a:t>
                      </a:r>
                      <a:endParaRPr lang="en-US" altLang="zh-CN" sz="1000" b="1">
                        <a:latin typeface="Times New Roman Regular" panose="02020603050405020304" charset="0"/>
                        <a:cs typeface="Times New Roman Regular" panose="02020603050405020304" charset="0"/>
                      </a:endParaRPr>
                    </a:p>
                  </a:txBody>
                  <a:tcPr anchor="ctr" anchorCtr="0"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000" b="1">
                          <a:latin typeface="Times New Roman Regular" panose="02020603050405020304" charset="0"/>
                          <a:cs typeface="Times New Roman Regular" panose="02020603050405020304" charset="0"/>
                        </a:rPr>
                        <a:t>0.4</a:t>
                      </a:r>
                      <a:endParaRPr lang="en-US" altLang="zh-CN" sz="1000" b="1">
                        <a:latin typeface="Times New Roman Regular" panose="02020603050405020304" charset="0"/>
                        <a:cs typeface="Times New Roman Regular" panose="02020603050405020304" charset="0"/>
                      </a:endParaRPr>
                    </a:p>
                  </a:txBody>
                  <a:tcPr anchor="ctr" anchorCtr="0"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000" b="1">
                          <a:latin typeface="Times New Roman Regular" panose="02020603050405020304" charset="0"/>
                          <a:cs typeface="Times New Roman Regular" panose="02020603050405020304" charset="0"/>
                        </a:rPr>
                        <a:t>0.5</a:t>
                      </a:r>
                      <a:endParaRPr lang="en-US" altLang="zh-CN" sz="1000" b="1">
                        <a:latin typeface="Times New Roman Regular" panose="02020603050405020304" charset="0"/>
                        <a:cs typeface="Times New Roman Regular" panose="02020603050405020304" charset="0"/>
                      </a:endParaRPr>
                    </a:p>
                  </a:txBody>
                  <a:tcPr anchor="ctr" anchorCtr="0"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</a:tbl>
          </a:graphicData>
        </a:graphic>
      </p:graphicFrame>
      <p:cxnSp>
        <p:nvCxnSpPr>
          <p:cNvPr id="92" name="直接箭头连接符 91"/>
          <p:cNvCxnSpPr>
            <a:stCxn id="85" idx="3"/>
            <a:endCxn id="87" idx="1"/>
          </p:cNvCxnSpPr>
          <p:nvPr/>
        </p:nvCxnSpPr>
        <p:spPr>
          <a:xfrm>
            <a:off x="5199380" y="5363210"/>
            <a:ext cx="196215" cy="635"/>
          </a:xfrm>
          <a:prstGeom prst="straightConnector1">
            <a:avLst/>
          </a:prstGeom>
          <a:ln w="19050" cap="rnd">
            <a:solidFill>
              <a:schemeClr val="tx1"/>
            </a:solidFill>
            <a:round/>
            <a:headEnd type="none"/>
            <a:tailEnd type="triangl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5" name="矩形 94"/>
          <p:cNvSpPr/>
          <p:nvPr/>
        </p:nvSpPr>
        <p:spPr>
          <a:xfrm>
            <a:off x="5914390" y="5936615"/>
            <a:ext cx="203200" cy="18669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7" name="文本框 96"/>
          <p:cNvSpPr txBox="1"/>
          <p:nvPr/>
        </p:nvSpPr>
        <p:spPr>
          <a:xfrm>
            <a:off x="6066790" y="5871845"/>
            <a:ext cx="9874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>
                <a:latin typeface="Times New Roman" panose="02020603050405020304" charset="0"/>
                <a:cs typeface="Times New Roman" panose="02020603050405020304" charset="0"/>
              </a:rPr>
              <a:t>Prediction</a:t>
            </a:r>
            <a:endParaRPr lang="en-US" altLang="zh-CN" sz="1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3" name="椭圆 102"/>
          <p:cNvSpPr/>
          <p:nvPr/>
        </p:nvSpPr>
        <p:spPr>
          <a:xfrm>
            <a:off x="2304415" y="5879465"/>
            <a:ext cx="288290" cy="28829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05" name="文本框 104"/>
          <p:cNvSpPr txBox="1"/>
          <p:nvPr/>
        </p:nvSpPr>
        <p:spPr>
          <a:xfrm>
            <a:off x="654050" y="4392295"/>
            <a:ext cx="22123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Times New Roman" panose="02020603050405020304" charset="0"/>
                <a:ea typeface="PingFang SC Semibold" panose="020B0400000000000000" charset="-122"/>
                <a:cs typeface="Times New Roman" panose="02020603050405020304" charset="0"/>
              </a:rPr>
              <a:t>Query Descriptor</a:t>
            </a:r>
            <a:endParaRPr lang="en-US" altLang="zh-CN" b="1">
              <a:latin typeface="Times New Roman" panose="02020603050405020304" charset="0"/>
              <a:ea typeface="PingFang SC Semibold" panose="020B0400000000000000" charset="-122"/>
              <a:cs typeface="Times New Roman" panose="02020603050405020304" charset="0"/>
            </a:endParaRPr>
          </a:p>
        </p:txBody>
      </p:sp>
      <p:sp>
        <p:nvSpPr>
          <p:cNvPr id="118" name="椭圆 117"/>
          <p:cNvSpPr/>
          <p:nvPr/>
        </p:nvSpPr>
        <p:spPr>
          <a:xfrm>
            <a:off x="1599565" y="4760595"/>
            <a:ext cx="288290" cy="28829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cxnSp>
        <p:nvCxnSpPr>
          <p:cNvPr id="121" name="肘形连接符 120"/>
          <p:cNvCxnSpPr>
            <a:stCxn id="77" idx="3"/>
            <a:endCxn id="85" idx="1"/>
          </p:cNvCxnSpPr>
          <p:nvPr/>
        </p:nvCxnSpPr>
        <p:spPr>
          <a:xfrm flipV="1">
            <a:off x="2805430" y="5363210"/>
            <a:ext cx="546100" cy="501015"/>
          </a:xfrm>
          <a:prstGeom prst="bentConnector3">
            <a:avLst>
              <a:gd name="adj1" fmla="val 50000"/>
            </a:avLst>
          </a:prstGeom>
          <a:ln w="19050" cap="rnd">
            <a:solidFill>
              <a:schemeClr val="tx1"/>
            </a:solidFill>
            <a:round/>
            <a:headEnd type="none"/>
            <a:tailEnd type="triangl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2" name="肘形连接符 121"/>
          <p:cNvCxnSpPr>
            <a:stCxn id="120" idx="3"/>
            <a:endCxn id="85" idx="1"/>
          </p:cNvCxnSpPr>
          <p:nvPr/>
        </p:nvCxnSpPr>
        <p:spPr>
          <a:xfrm>
            <a:off x="2805430" y="4765675"/>
            <a:ext cx="546100" cy="597535"/>
          </a:xfrm>
          <a:prstGeom prst="bentConnector3">
            <a:avLst>
              <a:gd name="adj1" fmla="val 50000"/>
            </a:avLst>
          </a:prstGeom>
          <a:ln w="19050" cap="rnd">
            <a:solidFill>
              <a:schemeClr val="tx1"/>
            </a:solidFill>
            <a:round/>
            <a:headEnd type="none"/>
            <a:tailEnd type="triangl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3" name="圆角矩形 122"/>
          <p:cNvSpPr/>
          <p:nvPr/>
        </p:nvSpPr>
        <p:spPr>
          <a:xfrm>
            <a:off x="480060" y="41275"/>
            <a:ext cx="11158855" cy="3886200"/>
          </a:xfrm>
          <a:prstGeom prst="roundRect">
            <a:avLst>
              <a:gd name="adj" fmla="val 7516"/>
            </a:avLst>
          </a:prstGeom>
          <a:noFill/>
          <a:ln w="19050">
            <a:solidFill>
              <a:schemeClr val="tx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4" name="圆角矩形 123"/>
          <p:cNvSpPr/>
          <p:nvPr/>
        </p:nvSpPr>
        <p:spPr>
          <a:xfrm>
            <a:off x="480060" y="3989705"/>
            <a:ext cx="6969760" cy="2685415"/>
          </a:xfrm>
          <a:prstGeom prst="roundRect">
            <a:avLst>
              <a:gd name="adj" fmla="val 7516"/>
            </a:avLst>
          </a:prstGeom>
          <a:noFill/>
          <a:ln w="19050">
            <a:solidFill>
              <a:schemeClr val="tx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6" name="圆角矩形 125"/>
          <p:cNvSpPr/>
          <p:nvPr/>
        </p:nvSpPr>
        <p:spPr>
          <a:xfrm rot="5400000">
            <a:off x="8257540" y="3292475"/>
            <a:ext cx="2684780" cy="4080510"/>
          </a:xfrm>
          <a:prstGeom prst="roundRect">
            <a:avLst/>
          </a:prstGeom>
          <a:noFill/>
          <a:ln w="19050">
            <a:solidFill>
              <a:schemeClr val="tx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27" name="文本框 126"/>
          <p:cNvSpPr txBox="1"/>
          <p:nvPr/>
        </p:nvSpPr>
        <p:spPr>
          <a:xfrm>
            <a:off x="8726805" y="3990340"/>
            <a:ext cx="19227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2400" b="1">
                <a:latin typeface="Times New Roman" panose="02020603050405020304" charset="0"/>
                <a:ea typeface="PingFang SC Semibold" panose="020B0400000000000000" charset="-122"/>
                <a:cs typeface="Times New Roman" panose="02020603050405020304" charset="0"/>
              </a:rPr>
              <a:t>Retrievaler</a:t>
            </a:r>
            <a:endParaRPr lang="en-US" sz="2400" b="1">
              <a:latin typeface="Times New Roman" panose="02020603050405020304" charset="0"/>
              <a:ea typeface="PingFang SC Semibold" panose="020B0400000000000000" charset="-122"/>
              <a:cs typeface="Times New Roman" panose="02020603050405020304" charset="0"/>
            </a:endParaRPr>
          </a:p>
        </p:txBody>
      </p:sp>
      <p:sp>
        <p:nvSpPr>
          <p:cNvPr id="128" name="椭圆 127"/>
          <p:cNvSpPr/>
          <p:nvPr/>
        </p:nvSpPr>
        <p:spPr>
          <a:xfrm>
            <a:off x="8063230" y="4600575"/>
            <a:ext cx="288290" cy="28829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29" name="椭圆 128"/>
          <p:cNvSpPr/>
          <p:nvPr/>
        </p:nvSpPr>
        <p:spPr>
          <a:xfrm rot="5400000">
            <a:off x="8063230" y="4976495"/>
            <a:ext cx="288290" cy="28829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32" name="椭圆 131"/>
          <p:cNvSpPr/>
          <p:nvPr/>
        </p:nvSpPr>
        <p:spPr>
          <a:xfrm rot="5400000">
            <a:off x="8063230" y="5389245"/>
            <a:ext cx="288290" cy="28829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33" name="椭圆 132"/>
          <p:cNvSpPr/>
          <p:nvPr/>
        </p:nvSpPr>
        <p:spPr>
          <a:xfrm rot="5400000">
            <a:off x="8063230" y="6139180"/>
            <a:ext cx="288290" cy="28829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36" name="文本框 135"/>
          <p:cNvSpPr txBox="1"/>
          <p:nvPr/>
        </p:nvSpPr>
        <p:spPr>
          <a:xfrm>
            <a:off x="7967345" y="5722620"/>
            <a:ext cx="4800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Times New Roman" panose="02020603050405020304" charset="0"/>
                <a:ea typeface="PingFang SC Semibold" panose="020B0400000000000000" charset="-122"/>
                <a:cs typeface="Times New Roman" panose="02020603050405020304" charset="0"/>
              </a:rPr>
              <a:t>. . .</a:t>
            </a:r>
            <a:endParaRPr lang="en-US" altLang="zh-CN" b="1">
              <a:latin typeface="Times New Roman" panose="02020603050405020304" charset="0"/>
              <a:ea typeface="PingFang SC Semibold" panose="020B0400000000000000" charset="-122"/>
              <a:cs typeface="Times New Roman" panose="02020603050405020304" charset="0"/>
            </a:endParaRPr>
          </a:p>
        </p:txBody>
      </p:sp>
      <p:sp>
        <p:nvSpPr>
          <p:cNvPr id="137" name="圆角矩形 136"/>
          <p:cNvSpPr/>
          <p:nvPr/>
        </p:nvSpPr>
        <p:spPr>
          <a:xfrm>
            <a:off x="8539480" y="4450080"/>
            <a:ext cx="1693545" cy="211645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39" name="文本框 138"/>
          <p:cNvSpPr txBox="1"/>
          <p:nvPr/>
        </p:nvSpPr>
        <p:spPr>
          <a:xfrm>
            <a:off x="8609965" y="5013960"/>
            <a:ext cx="156083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Times New Roman" panose="02020603050405020304" charset="0"/>
                <a:ea typeface="PingFang SC Semibold" panose="020B0400000000000000" charset="-122"/>
                <a:cs typeface="Times New Roman" panose="02020603050405020304" charset="0"/>
              </a:rPr>
              <a:t>Differential</a:t>
            </a:r>
            <a:endParaRPr lang="en-US" altLang="zh-CN" b="1">
              <a:latin typeface="Times New Roman" panose="02020603050405020304" charset="0"/>
              <a:ea typeface="PingFang SC Semibold" panose="020B0400000000000000" charset="-122"/>
              <a:cs typeface="Times New Roman" panose="02020603050405020304" charset="0"/>
            </a:endParaRPr>
          </a:p>
          <a:p>
            <a:pPr algn="ctr"/>
            <a:r>
              <a:rPr lang="en-US" altLang="zh-CN" b="1">
                <a:latin typeface="Times New Roman" panose="02020603050405020304" charset="0"/>
                <a:ea typeface="PingFang SC Semibold" panose="020B0400000000000000" charset="-122"/>
                <a:cs typeface="Times New Roman" panose="02020603050405020304" charset="0"/>
              </a:rPr>
              <a:t>Transformer</a:t>
            </a:r>
            <a:endParaRPr lang="en-US" altLang="zh-CN" b="1">
              <a:latin typeface="Times New Roman" panose="02020603050405020304" charset="0"/>
              <a:ea typeface="PingFang SC Semibold" panose="020B0400000000000000" charset="-122"/>
              <a:cs typeface="Times New Roman" panose="02020603050405020304" charset="0"/>
            </a:endParaRPr>
          </a:p>
          <a:p>
            <a:pPr algn="ctr"/>
            <a:r>
              <a:rPr lang="en-US" altLang="zh-CN" b="1">
                <a:latin typeface="Times New Roman" panose="02020603050405020304" charset="0"/>
                <a:ea typeface="PingFang SC Semibold" panose="020B0400000000000000" charset="-122"/>
                <a:cs typeface="Times New Roman" panose="02020603050405020304" charset="0"/>
              </a:rPr>
              <a:t>Block</a:t>
            </a:r>
            <a:r>
              <a:rPr lang="en-US" altLang="zh-CN" b="1">
                <a:latin typeface="Times New Roman" panose="02020603050405020304" charset="0"/>
                <a:ea typeface="PingFang SC Semibold" panose="020B0400000000000000" charset="-122"/>
                <a:cs typeface="Times New Roman" panose="02020603050405020304" charset="0"/>
              </a:rPr>
              <a:t>s</a:t>
            </a:r>
            <a:endParaRPr lang="en-US" altLang="zh-CN" b="1">
              <a:latin typeface="Times New Roman" panose="02020603050405020304" charset="0"/>
              <a:ea typeface="PingFang SC Semibold" panose="020B0400000000000000" charset="-122"/>
              <a:cs typeface="Times New Roman" panose="02020603050405020304" charset="0"/>
            </a:endParaRPr>
          </a:p>
        </p:txBody>
      </p:sp>
      <p:sp>
        <p:nvSpPr>
          <p:cNvPr id="140" name="文本框 139"/>
          <p:cNvSpPr txBox="1"/>
          <p:nvPr/>
        </p:nvSpPr>
        <p:spPr>
          <a:xfrm>
            <a:off x="10432415" y="5179060"/>
            <a:ext cx="12001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Times New Roman" panose="02020603050405020304" charset="0"/>
                <a:ea typeface="PingFang SC Semibold" panose="020B0400000000000000" charset="-122"/>
                <a:cs typeface="Times New Roman" panose="02020603050405020304" charset="0"/>
              </a:rPr>
              <a:t>Similarity </a:t>
            </a:r>
            <a:endParaRPr lang="en-US" altLang="zh-CN" b="1">
              <a:latin typeface="Times New Roman" panose="02020603050405020304" charset="0"/>
              <a:ea typeface="PingFang SC Semibold" panose="020B0400000000000000" charset="-122"/>
              <a:cs typeface="Times New Roman" panose="02020603050405020304" charset="0"/>
            </a:endParaRPr>
          </a:p>
          <a:p>
            <a:pPr algn="ctr"/>
            <a:r>
              <a:rPr lang="en-US" altLang="zh-CN" b="1">
                <a:latin typeface="Times New Roman" panose="02020603050405020304" charset="0"/>
                <a:ea typeface="PingFang SC Semibold" panose="020B0400000000000000" charset="-122"/>
                <a:cs typeface="Times New Roman" panose="02020603050405020304" charset="0"/>
              </a:rPr>
              <a:t>Results</a:t>
            </a:r>
            <a:endParaRPr lang="en-US" altLang="zh-CN" b="1">
              <a:latin typeface="Times New Roman" panose="02020603050405020304" charset="0"/>
              <a:ea typeface="PingFang SC Semibold" panose="020B0400000000000000" charset="-122"/>
              <a:cs typeface="Times New Roman" panose="02020603050405020304" charset="0"/>
            </a:endParaRPr>
          </a:p>
        </p:txBody>
      </p:sp>
      <p:cxnSp>
        <p:nvCxnSpPr>
          <p:cNvPr id="141" name="直接箭头连接符 140"/>
          <p:cNvCxnSpPr>
            <a:stCxn id="137" idx="3"/>
            <a:endCxn id="140" idx="1"/>
          </p:cNvCxnSpPr>
          <p:nvPr/>
        </p:nvCxnSpPr>
        <p:spPr>
          <a:xfrm flipV="1">
            <a:off x="10233025" y="5501640"/>
            <a:ext cx="199390" cy="6985"/>
          </a:xfrm>
          <a:prstGeom prst="straightConnector1">
            <a:avLst/>
          </a:prstGeom>
          <a:ln w="19050" cap="rnd">
            <a:solidFill>
              <a:schemeClr val="tx1"/>
            </a:solidFill>
            <a:round/>
            <a:headEnd type="none"/>
            <a:tailEnd type="triangl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3" name="文本框 142"/>
          <p:cNvSpPr txBox="1"/>
          <p:nvPr/>
        </p:nvSpPr>
        <p:spPr>
          <a:xfrm>
            <a:off x="3658235" y="1955800"/>
            <a:ext cx="479425" cy="4013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zh-CN" altLang="en-US" sz="3200"/>
              <a:t>🔥</a:t>
            </a:r>
            <a:endParaRPr lang="zh-CN" altLang="en-US" sz="3200"/>
          </a:p>
        </p:txBody>
      </p:sp>
      <p:sp>
        <p:nvSpPr>
          <p:cNvPr id="144" name="文本框 143"/>
          <p:cNvSpPr txBox="1"/>
          <p:nvPr/>
        </p:nvSpPr>
        <p:spPr>
          <a:xfrm>
            <a:off x="8066405" y="1955800"/>
            <a:ext cx="479425" cy="4013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zh-CN" altLang="en-US" sz="3200"/>
              <a:t>🔥</a:t>
            </a:r>
            <a:endParaRPr lang="zh-CN" altLang="en-US" sz="3200"/>
          </a:p>
        </p:txBody>
      </p:sp>
      <p:sp>
        <p:nvSpPr>
          <p:cNvPr id="145" name="文本框 144"/>
          <p:cNvSpPr txBox="1"/>
          <p:nvPr/>
        </p:nvSpPr>
        <p:spPr>
          <a:xfrm>
            <a:off x="4043680" y="4913630"/>
            <a:ext cx="479425" cy="4013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zh-CN" altLang="en-US" sz="3200"/>
              <a:t>❄️</a:t>
            </a:r>
            <a:endParaRPr lang="zh-CN" altLang="en-US" sz="3200"/>
          </a:p>
        </p:txBody>
      </p:sp>
    </p:spTree>
    <p:custDataLst>
      <p:tags r:id="rId5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411</Words>
  <Application>WPS 演示</Application>
  <PresentationFormat>宽屏</PresentationFormat>
  <Paragraphs>95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8" baseType="lpstr">
      <vt:lpstr>Arial</vt:lpstr>
      <vt:lpstr>宋体</vt:lpstr>
      <vt:lpstr>Wingdings</vt:lpstr>
      <vt:lpstr>Wingdings</vt:lpstr>
      <vt:lpstr>Times New Roman</vt:lpstr>
      <vt:lpstr>PingFang SC Semibold</vt:lpstr>
      <vt:lpstr>Times New Roman Regular</vt:lpstr>
      <vt:lpstr>PingFang SC</vt:lpstr>
      <vt:lpstr>Aptos Mono</vt:lpstr>
      <vt:lpstr>Helvetica Neue</vt:lpstr>
      <vt:lpstr>苹方-简</vt:lpstr>
      <vt:lpstr>Apple Color Emoji</vt:lpstr>
      <vt:lpstr>微软雅黑</vt:lpstr>
      <vt:lpstr>Arial Unicode MS</vt:lpstr>
      <vt:lpstr>Aptos Mono</vt:lpstr>
      <vt:lpstr>宋体-简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王正宝</cp:lastModifiedBy>
  <cp:revision>225</cp:revision>
  <dcterms:created xsi:type="dcterms:W3CDTF">2026-05-08T10:33:31Z</dcterms:created>
  <dcterms:modified xsi:type="dcterms:W3CDTF">2026-05-08T10:33:31Z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2052-12.1.25205.25205</vt:lpwstr>
  </property>
  <property fmtid="{D5CDD505-2E9C-101B-9397-08002B2CF9AE}" pid="3" name="ICV">
    <vt:lpwstr>EC9D998FCDBD3B73F176E8695952BF26_41</vt:lpwstr>
  </property>
</Properties>
</file>